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Bernoru" charset="1" panose="00000A00000000000000"/>
      <p:regular r:id="rId18"/>
    </p:embeddedFont>
    <p:embeddedFont>
      <p:font typeface="Anton" charset="1" panose="00000500000000000000"/>
      <p:regular r:id="rId19"/>
    </p:embeddedFont>
    <p:embeddedFont>
      <p:font typeface="Garet" charset="1" panose="00000000000000000000"/>
      <p:regular r:id="rId20"/>
    </p:embeddedFont>
    <p:embeddedFont>
      <p:font typeface="Garet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5272" t="0" r="-527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981741" y="-489483"/>
            <a:ext cx="12052542" cy="1205254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D6E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02524" y="1604563"/>
            <a:ext cx="7864451" cy="786445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DC"/>
            </a:solidFill>
            <a:ln w="104775" cap="sq">
              <a:solidFill>
                <a:srgbClr val="FA96B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729595" y="2380014"/>
            <a:ext cx="6410310" cy="5559487"/>
          </a:xfrm>
          <a:custGeom>
            <a:avLst/>
            <a:gdLst/>
            <a:ahLst/>
            <a:cxnLst/>
            <a:rect r="r" b="b" t="t" l="l"/>
            <a:pathLst>
              <a:path h="5559487" w="6410310">
                <a:moveTo>
                  <a:pt x="0" y="0"/>
                </a:moveTo>
                <a:lnTo>
                  <a:pt x="6410310" y="0"/>
                </a:lnTo>
                <a:lnTo>
                  <a:pt x="6410310" y="5559487"/>
                </a:lnTo>
                <a:lnTo>
                  <a:pt x="0" y="55594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57540" y="1604563"/>
            <a:ext cx="2734039" cy="273403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DC"/>
            </a:solidFill>
            <a:ln w="104775" cap="sq">
              <a:solidFill>
                <a:srgbClr val="FA96BA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686458" y="2010365"/>
            <a:ext cx="2476202" cy="1922433"/>
          </a:xfrm>
          <a:custGeom>
            <a:avLst/>
            <a:gdLst/>
            <a:ahLst/>
            <a:cxnLst/>
            <a:rect r="r" b="b" t="t" l="l"/>
            <a:pathLst>
              <a:path h="1922433" w="2476202">
                <a:moveTo>
                  <a:pt x="0" y="0"/>
                </a:moveTo>
                <a:lnTo>
                  <a:pt x="2476202" y="0"/>
                </a:lnTo>
                <a:lnTo>
                  <a:pt x="2476202" y="1922433"/>
                </a:lnTo>
                <a:lnTo>
                  <a:pt x="0" y="19224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144000" y="1958175"/>
            <a:ext cx="7344098" cy="950225"/>
            <a:chOff x="0" y="0"/>
            <a:chExt cx="1934248" cy="2502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34248" cy="250265"/>
            </a:xfrm>
            <a:custGeom>
              <a:avLst/>
              <a:gdLst/>
              <a:ahLst/>
              <a:cxnLst/>
              <a:rect r="r" b="b" t="t" l="l"/>
              <a:pathLst>
                <a:path h="250265" w="1934248">
                  <a:moveTo>
                    <a:pt x="21083" y="0"/>
                  </a:moveTo>
                  <a:lnTo>
                    <a:pt x="1913165" y="0"/>
                  </a:lnTo>
                  <a:cubicBezTo>
                    <a:pt x="1924809" y="0"/>
                    <a:pt x="1934248" y="9439"/>
                    <a:pt x="1934248" y="21083"/>
                  </a:cubicBezTo>
                  <a:lnTo>
                    <a:pt x="1934248" y="229182"/>
                  </a:lnTo>
                  <a:cubicBezTo>
                    <a:pt x="1934248" y="234773"/>
                    <a:pt x="1932027" y="240136"/>
                    <a:pt x="1928073" y="244090"/>
                  </a:cubicBezTo>
                  <a:cubicBezTo>
                    <a:pt x="1924119" y="248044"/>
                    <a:pt x="1918756" y="250265"/>
                    <a:pt x="1913165" y="250265"/>
                  </a:cubicBezTo>
                  <a:lnTo>
                    <a:pt x="21083" y="250265"/>
                  </a:lnTo>
                  <a:cubicBezTo>
                    <a:pt x="9439" y="250265"/>
                    <a:pt x="0" y="240826"/>
                    <a:pt x="0" y="229182"/>
                  </a:cubicBezTo>
                  <a:lnTo>
                    <a:pt x="0" y="21083"/>
                  </a:lnTo>
                  <a:cubicBezTo>
                    <a:pt x="0" y="15492"/>
                    <a:pt x="2221" y="10129"/>
                    <a:pt x="6175" y="6175"/>
                  </a:cubicBezTo>
                  <a:cubicBezTo>
                    <a:pt x="10129" y="2221"/>
                    <a:pt x="15492" y="0"/>
                    <a:pt x="21083" y="0"/>
                  </a:cubicBezTo>
                  <a:close/>
                </a:path>
              </a:pathLst>
            </a:custGeom>
            <a:solidFill>
              <a:srgbClr val="A0325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934248" cy="278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077625" y="3304957"/>
            <a:ext cx="6639968" cy="2848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9"/>
              </a:lnSpc>
            </a:pPr>
            <a:r>
              <a:rPr lang="en-US" sz="5565">
                <a:solidFill>
                  <a:srgbClr val="A0325B"/>
                </a:solidFill>
                <a:latin typeface="Bernoru"/>
                <a:ea typeface="Bernoru"/>
                <a:cs typeface="Bernoru"/>
                <a:sym typeface="Bernoru"/>
              </a:rPr>
              <a:t>LUNG IMAGE CLASSIFICATION USING COMPUTER VISION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77625" y="2052026"/>
            <a:ext cx="5797316" cy="646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4"/>
              </a:lnSpc>
            </a:pPr>
            <a:r>
              <a:rPr lang="en-US" sz="424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Group 1 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00448" y="6476231"/>
            <a:ext cx="7194321" cy="140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2"/>
              </a:lnSpc>
            </a:pPr>
            <a:r>
              <a:rPr lang="en-US" sz="40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AI-POWERED LUNG  HEALTH ASSISTANT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5272" t="0" r="-527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8990412"/>
            <a:chOff x="0" y="0"/>
            <a:chExt cx="24994346" cy="122872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994409" cy="12287252"/>
            </a:xfrm>
            <a:custGeom>
              <a:avLst/>
              <a:gdLst/>
              <a:ahLst/>
              <a:cxnLst/>
              <a:rect r="r" b="b" t="t" l="l"/>
              <a:pathLst>
                <a:path h="12287252" w="24994409">
                  <a:moveTo>
                    <a:pt x="0" y="0"/>
                  </a:moveTo>
                  <a:lnTo>
                    <a:pt x="24994409" y="0"/>
                  </a:lnTo>
                  <a:lnTo>
                    <a:pt x="24994409" y="12287252"/>
                  </a:lnTo>
                  <a:lnTo>
                    <a:pt x="0" y="12287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767" r="0" b="-6767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9258300"/>
            <a:ext cx="13719344" cy="1358512"/>
            <a:chOff x="0" y="0"/>
            <a:chExt cx="3613325" cy="3577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13325" cy="357797"/>
            </a:xfrm>
            <a:custGeom>
              <a:avLst/>
              <a:gdLst/>
              <a:ahLst/>
              <a:cxnLst/>
              <a:rect r="r" b="b" t="t" l="l"/>
              <a:pathLst>
                <a:path h="357797" w="3613325">
                  <a:moveTo>
                    <a:pt x="0" y="0"/>
                  </a:moveTo>
                  <a:lnTo>
                    <a:pt x="3613325" y="0"/>
                  </a:lnTo>
                  <a:lnTo>
                    <a:pt x="3613325" y="357797"/>
                  </a:lnTo>
                  <a:lnTo>
                    <a:pt x="0" y="357797"/>
                  </a:lnTo>
                  <a:close/>
                </a:path>
              </a:pathLst>
            </a:custGeom>
            <a:solidFill>
              <a:srgbClr val="CF578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13325" cy="395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5272" t="0" r="-527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923095" y="-246050"/>
            <a:ext cx="4951795" cy="10533050"/>
            <a:chOff x="0" y="0"/>
            <a:chExt cx="1304176" cy="27741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04176" cy="2774137"/>
            </a:xfrm>
            <a:custGeom>
              <a:avLst/>
              <a:gdLst/>
              <a:ahLst/>
              <a:cxnLst/>
              <a:rect r="r" b="b" t="t" l="l"/>
              <a:pathLst>
                <a:path h="2774137" w="1304176">
                  <a:moveTo>
                    <a:pt x="0" y="0"/>
                  </a:moveTo>
                  <a:lnTo>
                    <a:pt x="1304176" y="0"/>
                  </a:lnTo>
                  <a:lnTo>
                    <a:pt x="1304176" y="2774137"/>
                  </a:lnTo>
                  <a:lnTo>
                    <a:pt x="0" y="2774137"/>
                  </a:lnTo>
                  <a:close/>
                </a:path>
              </a:pathLst>
            </a:custGeom>
            <a:solidFill>
              <a:srgbClr val="CF578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04176" cy="2812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919560" y="607723"/>
            <a:ext cx="11512253" cy="97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0"/>
              </a:lnSpc>
            </a:pPr>
            <a:r>
              <a:rPr lang="en-US" sz="7283">
                <a:solidFill>
                  <a:srgbClr val="A0325B"/>
                </a:solidFill>
                <a:latin typeface="Bernoru"/>
                <a:ea typeface="Bernoru"/>
                <a:cs typeface="Bernoru"/>
                <a:sym typeface="Bernoru"/>
              </a:rPr>
              <a:t>DATASET DESCRIPTION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06386" y="2376082"/>
            <a:ext cx="12451350" cy="6523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23"/>
              </a:lnSpc>
            </a:pPr>
          </a:p>
          <a:p>
            <a:pPr algn="just">
              <a:lnSpc>
                <a:spcPts val="4368"/>
              </a:lnSpc>
            </a:pPr>
          </a:p>
          <a:p>
            <a:pPr algn="just">
              <a:lnSpc>
                <a:spcPts val="4368"/>
              </a:lnSpc>
            </a:pPr>
            <a:r>
              <a:rPr lang="en-US" sz="312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3 Classes:</a:t>
            </a:r>
          </a:p>
          <a:p>
            <a:pPr algn="just" marL="673608" indent="-336804" lvl="1">
              <a:lnSpc>
                <a:spcPts val="4368"/>
              </a:lnSpc>
              <a:buFont typeface="Arial"/>
              <a:buChar char="•"/>
            </a:pPr>
            <a:r>
              <a:rPr lang="en-US" sz="312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Normal: Healthy lungs</a:t>
            </a:r>
          </a:p>
          <a:p>
            <a:pPr algn="just" marL="673608" indent="-336804" lvl="1">
              <a:lnSpc>
                <a:spcPts val="4368"/>
              </a:lnSpc>
              <a:buFont typeface="Arial"/>
              <a:buChar char="•"/>
            </a:pPr>
            <a:r>
              <a:rPr lang="en-US" sz="312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Lung Opacity: Dense areas (fluid/infection/inflammation)</a:t>
            </a:r>
          </a:p>
          <a:p>
            <a:pPr algn="just" marL="673608" indent="-336804" lvl="1">
              <a:lnSpc>
                <a:spcPts val="4368"/>
              </a:lnSpc>
              <a:buFont typeface="Arial"/>
              <a:buChar char="•"/>
            </a:pPr>
            <a:r>
              <a:rPr lang="en-US" sz="312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Viral Pneumonia:   visible Infection patterns</a:t>
            </a:r>
          </a:p>
          <a:p>
            <a:pPr algn="just">
              <a:lnSpc>
                <a:spcPts val="4368"/>
              </a:lnSpc>
            </a:pPr>
          </a:p>
          <a:p>
            <a:pPr algn="just">
              <a:lnSpc>
                <a:spcPts val="4368"/>
              </a:lnSpc>
            </a:pPr>
          </a:p>
          <a:p>
            <a:pPr algn="just" marL="673608" indent="-336804" lvl="1">
              <a:lnSpc>
                <a:spcPts val="4368"/>
              </a:lnSpc>
              <a:buFont typeface="Arial"/>
              <a:buChar char="•"/>
            </a:pPr>
            <a:r>
              <a:rPr lang="en-US" sz="312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Total: ~3,475 images ,Original Dataset  </a:t>
            </a:r>
          </a:p>
          <a:p>
            <a:pPr algn="just" marL="673608" indent="-336804" lvl="1">
              <a:lnSpc>
                <a:spcPts val="4368"/>
              </a:lnSpc>
              <a:buFont typeface="Arial"/>
              <a:buChar char="•"/>
            </a:pPr>
            <a:r>
              <a:rPr lang="en-US" sz="312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Tota</a:t>
            </a:r>
            <a:r>
              <a:rPr lang="en-US" sz="312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l: 12,278 images, After Augmentation</a:t>
            </a:r>
          </a:p>
          <a:p>
            <a:pPr algn="just">
              <a:lnSpc>
                <a:spcPts val="3963"/>
              </a:lnSpc>
            </a:pPr>
          </a:p>
          <a:p>
            <a:pPr algn="just">
              <a:lnSpc>
                <a:spcPts val="3963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919560" y="611064"/>
            <a:ext cx="14000001" cy="1831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86"/>
              </a:lnSpc>
            </a:pPr>
          </a:p>
          <a:p>
            <a:pPr algn="just">
              <a:lnSpc>
                <a:spcPts val="5086"/>
              </a:lnSpc>
            </a:pPr>
          </a:p>
          <a:p>
            <a:pPr algn="just">
              <a:lnSpc>
                <a:spcPts val="4456"/>
              </a:lnSpc>
            </a:pPr>
            <a:r>
              <a:rPr lang="en-US" sz="3183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</a:t>
            </a:r>
            <a:r>
              <a:rPr lang="en-US" sz="3183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aggle </a:t>
            </a:r>
            <a:r>
              <a:rPr lang="en-US" sz="3183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Lung Disease</a:t>
            </a:r>
            <a:r>
              <a:rPr lang="en-US" sz="3183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Dataset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06386" y="9201150"/>
            <a:ext cx="12451350" cy="480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63"/>
              </a:lnSpc>
            </a:pPr>
            <a:r>
              <a:rPr lang="en-US" sz="2831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Note: </a:t>
            </a:r>
            <a:r>
              <a:rPr lang="en-US" sz="283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Lung opacity is a radiological finding, not a disease..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5272" t="0" r="-527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9419" y="1412472"/>
            <a:ext cx="7155157" cy="6779562"/>
          </a:xfrm>
          <a:custGeom>
            <a:avLst/>
            <a:gdLst/>
            <a:ahLst/>
            <a:cxnLst/>
            <a:rect r="r" b="b" t="t" l="l"/>
            <a:pathLst>
              <a:path h="6779562" w="7155157">
                <a:moveTo>
                  <a:pt x="0" y="0"/>
                </a:moveTo>
                <a:lnTo>
                  <a:pt x="7155157" y="0"/>
                </a:lnTo>
                <a:lnTo>
                  <a:pt x="7155157" y="6779562"/>
                </a:lnTo>
                <a:lnTo>
                  <a:pt x="0" y="6779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59" t="-11430" r="0" b="-1143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24290" y="1374372"/>
            <a:ext cx="7689735" cy="6779562"/>
          </a:xfrm>
          <a:custGeom>
            <a:avLst/>
            <a:gdLst/>
            <a:ahLst/>
            <a:cxnLst/>
            <a:rect r="r" b="b" t="t" l="l"/>
            <a:pathLst>
              <a:path h="6779562" w="7689735">
                <a:moveTo>
                  <a:pt x="0" y="0"/>
                </a:moveTo>
                <a:lnTo>
                  <a:pt x="7689735" y="0"/>
                </a:lnTo>
                <a:lnTo>
                  <a:pt x="7689735" y="6779562"/>
                </a:lnTo>
                <a:lnTo>
                  <a:pt x="0" y="67795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244" t="0" r="-6244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4211" y="8503388"/>
            <a:ext cx="7745573" cy="1586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33"/>
              </a:lnSpc>
            </a:pPr>
            <a:r>
              <a:rPr lang="en-US" sz="2166" spc="1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Manual interpretation of chest X-rays is inherently</a:t>
            </a:r>
          </a:p>
          <a:p>
            <a:pPr algn="just">
              <a:lnSpc>
                <a:spcPts val="3033"/>
              </a:lnSpc>
            </a:pPr>
            <a:r>
              <a:rPr lang="en-US" sz="2166" spc="1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time-consuming and highly subjective.</a:t>
            </a:r>
          </a:p>
          <a:p>
            <a:pPr algn="just">
              <a:lnSpc>
                <a:spcPts val="373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773306" y="8306221"/>
            <a:ext cx="8514694" cy="1980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73"/>
              </a:lnSpc>
            </a:pPr>
            <a:r>
              <a:rPr lang="en-US" sz="2266" spc="13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 resource-constrained healthcare settings, limited</a:t>
            </a:r>
          </a:p>
          <a:p>
            <a:pPr algn="just">
              <a:lnSpc>
                <a:spcPts val="3173"/>
              </a:lnSpc>
            </a:pPr>
            <a:r>
              <a:rPr lang="en-US" sz="2266" spc="13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access to experienced radiologists leads to</a:t>
            </a:r>
          </a:p>
          <a:p>
            <a:pPr algn="just">
              <a:lnSpc>
                <a:spcPts val="3173"/>
              </a:lnSpc>
            </a:pPr>
            <a:r>
              <a:rPr lang="en-US" sz="2266" spc="135">
                <a:solidFill>
                  <a:srgbClr val="DF3838"/>
                </a:solidFill>
                <a:latin typeface="Garet"/>
                <a:ea typeface="Garet"/>
                <a:cs typeface="Garet"/>
                <a:sym typeface="Garet"/>
              </a:rPr>
              <a:t>diagnostic delays </a:t>
            </a:r>
            <a:r>
              <a:rPr lang="en-US" sz="2266" spc="13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and a higher risk of</a:t>
            </a:r>
            <a:r>
              <a:rPr lang="en-US" sz="2266" spc="135">
                <a:solidFill>
                  <a:srgbClr val="DF3838"/>
                </a:solidFill>
                <a:latin typeface="Garet"/>
                <a:ea typeface="Garet"/>
                <a:cs typeface="Garet"/>
                <a:sym typeface="Garet"/>
              </a:rPr>
              <a:t> human error</a:t>
            </a:r>
          </a:p>
          <a:p>
            <a:pPr algn="just">
              <a:lnSpc>
                <a:spcPts val="317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372491" y="221586"/>
            <a:ext cx="7543018" cy="75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6"/>
              </a:lnSpc>
            </a:pPr>
            <a:r>
              <a:rPr lang="en-US" sz="5561">
                <a:solidFill>
                  <a:srgbClr val="A0325B"/>
                </a:solidFill>
                <a:latin typeface="Bernoru"/>
                <a:ea typeface="Bernoru"/>
                <a:cs typeface="Bernoru"/>
                <a:sym typeface="Bernoru"/>
              </a:rPr>
              <a:t>WHY THIS MATTERS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5272" t="0" r="-527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48226" y="3029557"/>
            <a:ext cx="8038093" cy="5698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5114" indent="-352557" lvl="1">
              <a:lnSpc>
                <a:spcPts val="4572"/>
              </a:lnSpc>
              <a:buFont typeface="Arial"/>
              <a:buChar char="•"/>
            </a:pPr>
            <a:r>
              <a:rPr lang="en-US" sz="32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AI-powered image classification system</a:t>
            </a:r>
          </a:p>
          <a:p>
            <a:pPr algn="just" marL="705114" indent="-352557" lvl="1">
              <a:lnSpc>
                <a:spcPts val="4572"/>
              </a:lnSpc>
              <a:buFont typeface="Arial"/>
              <a:buChar char="•"/>
            </a:pPr>
            <a:r>
              <a:rPr lang="en-US" sz="32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Predicts lung conditions from chest X-rays</a:t>
            </a:r>
          </a:p>
          <a:p>
            <a:pPr algn="just">
              <a:lnSpc>
                <a:spcPts val="4572"/>
              </a:lnSpc>
            </a:pPr>
          </a:p>
          <a:p>
            <a:pPr algn="just" marL="705114" indent="-352557" lvl="1">
              <a:lnSpc>
                <a:spcPts val="4572"/>
              </a:lnSpc>
              <a:buFont typeface="Arial"/>
              <a:buChar char="•"/>
            </a:pPr>
            <a:r>
              <a:rPr lang="en-US" sz="32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Built using:</a:t>
            </a:r>
          </a:p>
          <a:p>
            <a:pPr algn="just" marL="1410227" indent="-470076" lvl="2">
              <a:lnSpc>
                <a:spcPts val="4572"/>
              </a:lnSpc>
              <a:buFont typeface="Arial"/>
              <a:buChar char="⚬"/>
            </a:pPr>
            <a:r>
              <a:rPr lang="en-US" sz="32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Teachable Machine (model training)</a:t>
            </a:r>
          </a:p>
          <a:p>
            <a:pPr algn="just" marL="1410227" indent="-470076" lvl="2">
              <a:lnSpc>
                <a:spcPts val="4572"/>
              </a:lnSpc>
              <a:buFont typeface="Arial"/>
              <a:buChar char="⚬"/>
            </a:pPr>
            <a:r>
              <a:rPr lang="en-US" sz="32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Streamlit (deployment)</a:t>
            </a:r>
          </a:p>
          <a:p>
            <a:pPr algn="just">
              <a:lnSpc>
                <a:spcPts val="4572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4294" y="2618408"/>
            <a:ext cx="6936739" cy="5050184"/>
          </a:xfrm>
          <a:custGeom>
            <a:avLst/>
            <a:gdLst/>
            <a:ahLst/>
            <a:cxnLst/>
            <a:rect r="r" b="b" t="t" l="l"/>
            <a:pathLst>
              <a:path h="5050184" w="6936739">
                <a:moveTo>
                  <a:pt x="0" y="0"/>
                </a:moveTo>
                <a:lnTo>
                  <a:pt x="6936739" y="0"/>
                </a:lnTo>
                <a:lnTo>
                  <a:pt x="6936739" y="5050184"/>
                </a:lnTo>
                <a:lnTo>
                  <a:pt x="0" y="50501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934" r="0" b="-293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86350" y="802613"/>
            <a:ext cx="8115300" cy="97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0"/>
              </a:lnSpc>
            </a:pPr>
            <a:r>
              <a:rPr lang="en-US" sz="7283">
                <a:solidFill>
                  <a:srgbClr val="A0325B"/>
                </a:solidFill>
                <a:latin typeface="Bernoru"/>
                <a:ea typeface="Bernoru"/>
                <a:cs typeface="Bernoru"/>
                <a:sym typeface="Bernoru"/>
              </a:rPr>
              <a:t>WHAT WE BUILT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5039" y="8090102"/>
            <a:ext cx="7685579" cy="20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8756" indent="-309378" lvl="1">
              <a:lnSpc>
                <a:spcPts val="4012"/>
              </a:lnSpc>
              <a:buFont typeface="Arial"/>
              <a:buChar char="•"/>
            </a:pPr>
            <a:r>
              <a:rPr lang="en-US" sz="28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Al-powered analysis provides instant, objective interpretation, eliminating human bottlenecks.</a:t>
            </a:r>
          </a:p>
          <a:p>
            <a:pPr algn="just">
              <a:lnSpc>
                <a:spcPts val="4572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5272" t="0" r="-527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923095" y="-246050"/>
            <a:ext cx="4951795" cy="10533050"/>
            <a:chOff x="0" y="0"/>
            <a:chExt cx="1304176" cy="27741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04176" cy="2774137"/>
            </a:xfrm>
            <a:custGeom>
              <a:avLst/>
              <a:gdLst/>
              <a:ahLst/>
              <a:cxnLst/>
              <a:rect r="r" b="b" t="t" l="l"/>
              <a:pathLst>
                <a:path h="2774137" w="1304176">
                  <a:moveTo>
                    <a:pt x="0" y="0"/>
                  </a:moveTo>
                  <a:lnTo>
                    <a:pt x="1304176" y="0"/>
                  </a:lnTo>
                  <a:lnTo>
                    <a:pt x="1304176" y="2774137"/>
                  </a:lnTo>
                  <a:lnTo>
                    <a:pt x="0" y="2774137"/>
                  </a:lnTo>
                  <a:close/>
                </a:path>
              </a:pathLst>
            </a:custGeom>
            <a:solidFill>
              <a:srgbClr val="CF578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04176" cy="2812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635788" y="451859"/>
            <a:ext cx="12176253" cy="2575677"/>
            <a:chOff x="0" y="0"/>
            <a:chExt cx="3206914" cy="6783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06914" cy="678367"/>
            </a:xfrm>
            <a:custGeom>
              <a:avLst/>
              <a:gdLst/>
              <a:ahLst/>
              <a:cxnLst/>
              <a:rect r="r" b="b" t="t" l="l"/>
              <a:pathLst>
                <a:path h="678367" w="3206914">
                  <a:moveTo>
                    <a:pt x="0" y="0"/>
                  </a:moveTo>
                  <a:lnTo>
                    <a:pt x="3206914" y="0"/>
                  </a:lnTo>
                  <a:lnTo>
                    <a:pt x="3206914" y="678367"/>
                  </a:lnTo>
                  <a:lnTo>
                    <a:pt x="0" y="678367"/>
                  </a:lnTo>
                  <a:close/>
                </a:path>
              </a:pathLst>
            </a:custGeom>
            <a:solidFill>
              <a:srgbClr val="F5F5D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206914" cy="716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047747" y="1356940"/>
            <a:ext cx="8115300" cy="97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0"/>
              </a:lnSpc>
            </a:pPr>
            <a:r>
              <a:rPr lang="en-US" sz="7283">
                <a:solidFill>
                  <a:srgbClr val="A0325B"/>
                </a:solidFill>
                <a:latin typeface="Bernoru"/>
                <a:ea typeface="Bernoru"/>
                <a:cs typeface="Bernoru"/>
                <a:sym typeface="Bernoru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29683" y="3617996"/>
            <a:ext cx="9528260" cy="483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72"/>
              </a:lnSpc>
            </a:pPr>
            <a:r>
              <a:rPr lang="en-US" sz="27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How the Model Works</a:t>
            </a:r>
          </a:p>
          <a:p>
            <a:pPr algn="just">
              <a:lnSpc>
                <a:spcPts val="3872"/>
              </a:lnSpc>
            </a:pPr>
          </a:p>
          <a:p>
            <a:pPr algn="just" marL="597166" indent="-298583" lvl="1">
              <a:lnSpc>
                <a:spcPts val="3872"/>
              </a:lnSpc>
              <a:buFont typeface="Arial"/>
              <a:buChar char="•"/>
            </a:pPr>
            <a:r>
              <a:rPr lang="en-US" sz="27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MobileNetV2 (CNN)</a:t>
            </a:r>
          </a:p>
          <a:p>
            <a:pPr algn="just" marL="597166" indent="-298583" lvl="1">
              <a:lnSpc>
                <a:spcPts val="3872"/>
              </a:lnSpc>
              <a:buFont typeface="Arial"/>
              <a:buChar char="•"/>
            </a:pPr>
            <a:r>
              <a:rPr lang="en-US" sz="27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Transfer Learning via Teachable Machine</a:t>
            </a:r>
          </a:p>
          <a:p>
            <a:pPr algn="just" marL="597166" indent="-298583" lvl="1">
              <a:lnSpc>
                <a:spcPts val="3872"/>
              </a:lnSpc>
              <a:buFont typeface="Arial"/>
              <a:buChar char="•"/>
            </a:pPr>
            <a:r>
              <a:rPr lang="en-US" sz="27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Adapted to classify X-rays</a:t>
            </a:r>
          </a:p>
          <a:p>
            <a:pPr algn="just">
              <a:lnSpc>
                <a:spcPts val="3872"/>
              </a:lnSpc>
            </a:pPr>
          </a:p>
          <a:p>
            <a:pPr algn="just">
              <a:lnSpc>
                <a:spcPts val="3872"/>
              </a:lnSpc>
            </a:pPr>
            <a:r>
              <a:rPr lang="en-US" sz="27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Preprocessing:</a:t>
            </a:r>
          </a:p>
          <a:p>
            <a:pPr algn="just" marL="597166" indent="-298583" lvl="1">
              <a:lnSpc>
                <a:spcPts val="3872"/>
              </a:lnSpc>
              <a:buFont typeface="Arial"/>
              <a:buChar char="•"/>
            </a:pPr>
            <a:r>
              <a:rPr lang="en-US" sz="27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Resize → 224 × 224</a:t>
            </a:r>
          </a:p>
          <a:p>
            <a:pPr algn="just" marL="597166" indent="-298583" lvl="1">
              <a:lnSpc>
                <a:spcPts val="3872"/>
              </a:lnSpc>
              <a:buFont typeface="Arial"/>
              <a:buChar char="•"/>
            </a:pPr>
            <a:r>
              <a:rPr lang="en-US" sz="27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Normalization → [-1, 1]</a:t>
            </a:r>
          </a:p>
          <a:p>
            <a:pPr algn="just">
              <a:lnSpc>
                <a:spcPts val="3872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5272" t="0" r="-527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59300" y="0"/>
            <a:ext cx="3086100" cy="2652117"/>
            <a:chOff x="0" y="0"/>
            <a:chExt cx="812800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CF578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411700" y="152400"/>
            <a:ext cx="3086100" cy="2652117"/>
            <a:chOff x="0" y="0"/>
            <a:chExt cx="812800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CF578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31088" y="1870266"/>
            <a:ext cx="7046715" cy="3970489"/>
          </a:xfrm>
          <a:custGeom>
            <a:avLst/>
            <a:gdLst/>
            <a:ahLst/>
            <a:cxnLst/>
            <a:rect r="r" b="b" t="t" l="l"/>
            <a:pathLst>
              <a:path h="3970489" w="7046715">
                <a:moveTo>
                  <a:pt x="0" y="0"/>
                </a:moveTo>
                <a:lnTo>
                  <a:pt x="7046715" y="0"/>
                </a:lnTo>
                <a:lnTo>
                  <a:pt x="7046715" y="3970489"/>
                </a:lnTo>
                <a:lnTo>
                  <a:pt x="0" y="39704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19" t="-9828" r="-1819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40613" y="6134965"/>
            <a:ext cx="7141002" cy="4002324"/>
          </a:xfrm>
          <a:custGeom>
            <a:avLst/>
            <a:gdLst/>
            <a:ahLst/>
            <a:cxnLst/>
            <a:rect r="r" b="b" t="t" l="l"/>
            <a:pathLst>
              <a:path h="4002324" w="7141002">
                <a:moveTo>
                  <a:pt x="0" y="0"/>
                </a:moveTo>
                <a:lnTo>
                  <a:pt x="7141003" y="0"/>
                </a:lnTo>
                <a:lnTo>
                  <a:pt x="7141003" y="4002324"/>
                </a:lnTo>
                <a:lnTo>
                  <a:pt x="0" y="40023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286" r="0" b="-30113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447744" y="528249"/>
            <a:ext cx="12014589" cy="97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0"/>
              </a:lnSpc>
            </a:pPr>
            <a:r>
              <a:rPr lang="en-US" sz="7283">
                <a:solidFill>
                  <a:srgbClr val="A0325B"/>
                </a:solidFill>
                <a:latin typeface="Bernoru"/>
                <a:ea typeface="Bernoru"/>
                <a:cs typeface="Bernoru"/>
                <a:sym typeface="Bernoru"/>
              </a:rPr>
              <a:t>RESULT AND EVALUATION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35231" y="1932178"/>
            <a:ext cx="9017678" cy="3928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57"/>
              </a:lnSpc>
            </a:pPr>
            <a:r>
              <a:rPr lang="en-US" sz="246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Learning Curve Analysis</a:t>
            </a:r>
          </a:p>
          <a:p>
            <a:pPr algn="just" marL="533136" indent="-266568" lvl="1">
              <a:lnSpc>
                <a:spcPts val="3457"/>
              </a:lnSpc>
              <a:buFont typeface="Arial"/>
              <a:buChar char="•"/>
            </a:pPr>
            <a:r>
              <a:rPr lang="en-US" sz="246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Training a</a:t>
            </a:r>
            <a:r>
              <a:rPr lang="en-US" sz="246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ccuracy (blue line): Cl</a:t>
            </a:r>
            <a:r>
              <a:rPr lang="en-US" sz="246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imbs steadily toward 1.0, showing the model is fitting the training data very well. </a:t>
            </a:r>
          </a:p>
          <a:p>
            <a:pPr algn="just" marL="533136" indent="-266568" lvl="1">
              <a:lnSpc>
                <a:spcPts val="3457"/>
              </a:lnSpc>
              <a:buFont typeface="Arial"/>
              <a:buChar char="•"/>
            </a:pPr>
            <a:r>
              <a:rPr lang="en-US" sz="246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Test accuracy (orange line): Rises more slowly, leveling around ~0.9 by epoch 10, which indicates good generalization but with a small gap compared to training.</a:t>
            </a:r>
          </a:p>
          <a:p>
            <a:pPr algn="just">
              <a:lnSpc>
                <a:spcPts val="3457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606656" y="6154015"/>
            <a:ext cx="9402239" cy="4366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57"/>
              </a:lnSpc>
            </a:pPr>
            <a:r>
              <a:rPr lang="en-US" sz="246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Learning Curve Analysis</a:t>
            </a:r>
          </a:p>
          <a:p>
            <a:pPr algn="just" marL="533136" indent="-266568" lvl="1">
              <a:lnSpc>
                <a:spcPts val="3457"/>
              </a:lnSpc>
              <a:buAutoNum type="arabicPeriod" startAt="1"/>
            </a:pPr>
            <a:r>
              <a:rPr lang="en-US" sz="246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Training loss</a:t>
            </a:r>
            <a:r>
              <a:rPr lang="en-US" sz="246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(blue line): It</a:t>
            </a:r>
            <a:r>
              <a:rPr lang="en-US" sz="246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steadily decreases across epochs, dropping close to zero. This indicates the model is learning patterns in the training data effectively. </a:t>
            </a:r>
          </a:p>
          <a:p>
            <a:pPr algn="just" marL="533136" indent="-266568" lvl="1">
              <a:lnSpc>
                <a:spcPts val="3457"/>
              </a:lnSpc>
              <a:buAutoNum type="arabicPeriod" startAt="1"/>
            </a:pPr>
            <a:r>
              <a:rPr lang="en-US" sz="246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Test loss (orange line): It also decreases, though it remains slightly higher than training loss. This gap is expected. It reflects the difference between fitting the training data and generalizing to unseen data</a:t>
            </a:r>
          </a:p>
          <a:p>
            <a:pPr algn="just">
              <a:lnSpc>
                <a:spcPts val="3457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5272" t="0" r="-527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36551" y="-415451"/>
            <a:ext cx="13719344" cy="1707956"/>
            <a:chOff x="0" y="0"/>
            <a:chExt cx="3613325" cy="4498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13325" cy="449832"/>
            </a:xfrm>
            <a:custGeom>
              <a:avLst/>
              <a:gdLst/>
              <a:ahLst/>
              <a:cxnLst/>
              <a:rect r="r" b="b" t="t" l="l"/>
              <a:pathLst>
                <a:path h="449832" w="3613325">
                  <a:moveTo>
                    <a:pt x="0" y="0"/>
                  </a:moveTo>
                  <a:lnTo>
                    <a:pt x="3613325" y="0"/>
                  </a:lnTo>
                  <a:lnTo>
                    <a:pt x="3613325" y="449832"/>
                  </a:lnTo>
                  <a:lnTo>
                    <a:pt x="0" y="449832"/>
                  </a:lnTo>
                  <a:close/>
                </a:path>
              </a:pathLst>
            </a:custGeom>
            <a:solidFill>
              <a:srgbClr val="CF578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13325" cy="487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591512">
            <a:off x="10669597" y="3581141"/>
            <a:ext cx="12052542" cy="10545974"/>
            <a:chOff x="0" y="0"/>
            <a:chExt cx="8128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DD6E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31877" y="317201"/>
            <a:ext cx="8115300" cy="97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0"/>
              </a:lnSpc>
            </a:pPr>
            <a:r>
              <a:rPr lang="en-US" sz="7283">
                <a:solidFill>
                  <a:srgbClr val="A0325B"/>
                </a:solidFill>
                <a:latin typeface="Bernoru"/>
                <a:ea typeface="Bernoru"/>
                <a:cs typeface="Bernoru"/>
                <a:sym typeface="Bernoru"/>
              </a:rPr>
              <a:t>RESULT</a:t>
            </a:r>
          </a:p>
        </p:txBody>
      </p:sp>
      <p:grpSp>
        <p:nvGrpSpPr>
          <p:cNvPr name="Group 10" id="10"/>
          <p:cNvGrpSpPr/>
          <p:nvPr/>
        </p:nvGrpSpPr>
        <p:grpSpPr>
          <a:xfrm rot="1591512">
            <a:off x="10821997" y="3733541"/>
            <a:ext cx="12052542" cy="10545974"/>
            <a:chOff x="0" y="0"/>
            <a:chExt cx="812800" cy="711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DD6E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03758" y="1483006"/>
            <a:ext cx="14330868" cy="434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97166" indent="-298583" lvl="1">
              <a:lnSpc>
                <a:spcPts val="3872"/>
              </a:lnSpc>
              <a:buFont typeface="Arial"/>
              <a:buChar char="•"/>
            </a:pPr>
            <a:r>
              <a:rPr lang="en-US" sz="27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Model Performance</a:t>
            </a:r>
          </a:p>
          <a:p>
            <a:pPr algn="just" marL="597166" indent="-298583" lvl="1">
              <a:lnSpc>
                <a:spcPts val="3872"/>
              </a:lnSpc>
              <a:buFont typeface="Arial"/>
              <a:buChar char="•"/>
            </a:pPr>
            <a:r>
              <a:rPr lang="en-US" sz="27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Accuracy: ~90%</a:t>
            </a:r>
          </a:p>
          <a:p>
            <a:pPr algn="just" marL="597166" indent="-298583" lvl="1">
              <a:lnSpc>
                <a:spcPts val="3872"/>
              </a:lnSpc>
              <a:buFont typeface="Arial"/>
              <a:buChar char="•"/>
            </a:pPr>
            <a:r>
              <a:rPr lang="en-US" sz="27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Viral Pneumonia is classified with very high accuracy</a:t>
            </a:r>
          </a:p>
          <a:p>
            <a:pPr algn="just" marL="597166" indent="-298583" lvl="1">
              <a:lnSpc>
                <a:spcPts val="3872"/>
              </a:lnSpc>
              <a:buFont typeface="Arial"/>
              <a:buChar char="•"/>
            </a:pPr>
            <a:r>
              <a:rPr lang="en-US" sz="27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Some confusion exists between:Normal and Lung Opacity (visually similar features)</a:t>
            </a:r>
          </a:p>
          <a:p>
            <a:pPr algn="just" marL="597166" indent="-298583" lvl="1">
              <a:lnSpc>
                <a:spcPts val="3872"/>
              </a:lnSpc>
              <a:buFont typeface="Arial"/>
              <a:buChar char="•"/>
            </a:pPr>
            <a:r>
              <a:rPr lang="en-US" sz="27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False negatives are minimal, which is important for medical reliability</a:t>
            </a:r>
          </a:p>
          <a:p>
            <a:pPr algn="just">
              <a:lnSpc>
                <a:spcPts val="3872"/>
              </a:lnSpc>
            </a:pPr>
          </a:p>
          <a:p>
            <a:pPr algn="just">
              <a:lnSpc>
                <a:spcPts val="3872"/>
              </a:lnSpc>
            </a:pPr>
          </a:p>
          <a:p>
            <a:pPr algn="just">
              <a:lnSpc>
                <a:spcPts val="3872"/>
              </a:lnSpc>
            </a:pPr>
            <a:r>
              <a:rPr lang="en-US" sz="27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075411" y="5118334"/>
            <a:ext cx="12920812" cy="3954869"/>
          </a:xfrm>
          <a:custGeom>
            <a:avLst/>
            <a:gdLst/>
            <a:ahLst/>
            <a:cxnLst/>
            <a:rect r="r" b="b" t="t" l="l"/>
            <a:pathLst>
              <a:path h="3954869" w="12920812">
                <a:moveTo>
                  <a:pt x="0" y="0"/>
                </a:moveTo>
                <a:lnTo>
                  <a:pt x="12920812" y="0"/>
                </a:lnTo>
                <a:lnTo>
                  <a:pt x="12920812" y="3954870"/>
                </a:lnTo>
                <a:lnTo>
                  <a:pt x="0" y="39548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64" r="0" b="-1864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760118" y="9344025"/>
            <a:ext cx="7376184" cy="488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Model performs well overall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5272" t="0" r="-527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026001" y="-514350"/>
            <a:ext cx="13719344" cy="1358512"/>
            <a:chOff x="0" y="0"/>
            <a:chExt cx="3613325" cy="3577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13325" cy="357797"/>
            </a:xfrm>
            <a:custGeom>
              <a:avLst/>
              <a:gdLst/>
              <a:ahLst/>
              <a:cxnLst/>
              <a:rect r="r" b="b" t="t" l="l"/>
              <a:pathLst>
                <a:path h="357797" w="3613325">
                  <a:moveTo>
                    <a:pt x="0" y="0"/>
                  </a:moveTo>
                  <a:lnTo>
                    <a:pt x="3613325" y="0"/>
                  </a:lnTo>
                  <a:lnTo>
                    <a:pt x="3613325" y="357797"/>
                  </a:lnTo>
                  <a:lnTo>
                    <a:pt x="0" y="357797"/>
                  </a:lnTo>
                  <a:close/>
                </a:path>
              </a:pathLst>
            </a:custGeom>
            <a:solidFill>
              <a:srgbClr val="CF578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13325" cy="395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522545" y="9258300"/>
            <a:ext cx="13719344" cy="1707956"/>
            <a:chOff x="0" y="0"/>
            <a:chExt cx="3613325" cy="4498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3325" cy="449832"/>
            </a:xfrm>
            <a:custGeom>
              <a:avLst/>
              <a:gdLst/>
              <a:ahLst/>
              <a:cxnLst/>
              <a:rect r="r" b="b" t="t" l="l"/>
              <a:pathLst>
                <a:path h="449832" w="3613325">
                  <a:moveTo>
                    <a:pt x="0" y="0"/>
                  </a:moveTo>
                  <a:lnTo>
                    <a:pt x="3613325" y="0"/>
                  </a:lnTo>
                  <a:lnTo>
                    <a:pt x="3613325" y="449832"/>
                  </a:lnTo>
                  <a:lnTo>
                    <a:pt x="0" y="449832"/>
                  </a:lnTo>
                  <a:close/>
                </a:path>
              </a:pathLst>
            </a:custGeom>
            <a:solidFill>
              <a:srgbClr val="CF578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613325" cy="487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144000" y="3067097"/>
            <a:ext cx="8903364" cy="4816667"/>
          </a:xfrm>
          <a:custGeom>
            <a:avLst/>
            <a:gdLst/>
            <a:ahLst/>
            <a:cxnLst/>
            <a:rect r="r" b="b" t="t" l="l"/>
            <a:pathLst>
              <a:path h="4816667" w="8903364">
                <a:moveTo>
                  <a:pt x="0" y="0"/>
                </a:moveTo>
                <a:lnTo>
                  <a:pt x="8903364" y="0"/>
                </a:lnTo>
                <a:lnTo>
                  <a:pt x="8903364" y="4816667"/>
                </a:lnTo>
                <a:lnTo>
                  <a:pt x="0" y="48166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740" t="0" r="-7006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06144" y="1162050"/>
            <a:ext cx="8115300" cy="97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0"/>
              </a:lnSpc>
            </a:pPr>
            <a:r>
              <a:rPr lang="en-US" sz="7283">
                <a:solidFill>
                  <a:srgbClr val="A0325B"/>
                </a:solidFill>
                <a:latin typeface="Bernoru"/>
                <a:ea typeface="Bernoru"/>
                <a:cs typeface="Bernoru"/>
                <a:sym typeface="Bernoru"/>
              </a:rPr>
              <a:t>APPLICATION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06144" y="3181138"/>
            <a:ext cx="7310763" cy="4702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57"/>
              </a:lnSpc>
            </a:pPr>
            <a:r>
              <a:rPr lang="en-US" sz="361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The System We Built</a:t>
            </a:r>
          </a:p>
          <a:p>
            <a:pPr algn="just" marL="703627" indent="-351814" lvl="1">
              <a:lnSpc>
                <a:spcPts val="4562"/>
              </a:lnSpc>
              <a:buFont typeface="Arial"/>
              <a:buChar char="•"/>
            </a:pPr>
            <a:r>
              <a:rPr lang="en-US" sz="32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Deployed using Streamlit</a:t>
            </a:r>
          </a:p>
          <a:p>
            <a:pPr algn="just">
              <a:lnSpc>
                <a:spcPts val="4562"/>
              </a:lnSpc>
            </a:pPr>
          </a:p>
          <a:p>
            <a:pPr algn="just">
              <a:lnSpc>
                <a:spcPts val="5057"/>
              </a:lnSpc>
            </a:pPr>
            <a:r>
              <a:rPr lang="en-US" sz="361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Features:</a:t>
            </a:r>
          </a:p>
          <a:p>
            <a:pPr algn="just" marL="703627" indent="-351814" lvl="1">
              <a:lnSpc>
                <a:spcPts val="4562"/>
              </a:lnSpc>
              <a:buFont typeface="Arial"/>
              <a:buChar char="•"/>
            </a:pPr>
            <a:r>
              <a:rPr lang="en-US" sz="32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Upload X-ray image</a:t>
            </a:r>
          </a:p>
          <a:p>
            <a:pPr algn="just" marL="703627" indent="-351814" lvl="1">
              <a:lnSpc>
                <a:spcPts val="4562"/>
              </a:lnSpc>
              <a:buFont typeface="Arial"/>
              <a:buChar char="•"/>
            </a:pPr>
            <a:r>
              <a:rPr lang="en-US" sz="32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Instant prediction</a:t>
            </a:r>
          </a:p>
          <a:p>
            <a:pPr algn="just" marL="703627" indent="-351814" lvl="1">
              <a:lnSpc>
                <a:spcPts val="4562"/>
              </a:lnSpc>
              <a:buFont typeface="Arial"/>
              <a:buChar char="•"/>
            </a:pPr>
            <a:r>
              <a:rPr lang="en-US" sz="32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Confidence score</a:t>
            </a:r>
          </a:p>
          <a:p>
            <a:pPr algn="just">
              <a:lnSpc>
                <a:spcPts val="4562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5272" t="0" r="-527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52500"/>
            <a:ext cx="15393646" cy="761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26"/>
              </a:lnSpc>
            </a:pPr>
            <a:r>
              <a:rPr lang="en-US" sz="5683">
                <a:solidFill>
                  <a:srgbClr val="A0325B"/>
                </a:solidFill>
                <a:latin typeface="Bernoru"/>
                <a:ea typeface="Bernoru"/>
                <a:cs typeface="Bernoru"/>
                <a:sym typeface="Bernoru"/>
              </a:rPr>
              <a:t>LIVE DEMO: AI LUNG CLASSIFICATION APP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36314" y="7819668"/>
            <a:ext cx="10178419" cy="687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92"/>
              </a:lnSpc>
            </a:pPr>
            <a:r>
              <a:rPr lang="en-US" sz="4065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Scan to try the App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641613" y="1628560"/>
            <a:ext cx="6379862" cy="6379862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57976" y="9048750"/>
            <a:ext cx="17836141" cy="10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12"/>
              </a:lnSpc>
            </a:pPr>
            <a:r>
              <a:rPr lang="en-US" sz="3365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Note:</a:t>
            </a:r>
          </a:p>
          <a:p>
            <a:pPr algn="just">
              <a:lnSpc>
                <a:spcPts val="3872"/>
              </a:lnSpc>
            </a:pPr>
            <a:r>
              <a:rPr lang="en-US" sz="27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This</a:t>
            </a:r>
            <a:r>
              <a:rPr lang="en-US" sz="27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application is intended for educational purposes only and is not a medical diagnostic tool.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5272" t="0" r="-527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026001" y="-514350"/>
            <a:ext cx="13719344" cy="1358512"/>
            <a:chOff x="0" y="0"/>
            <a:chExt cx="3613325" cy="3577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13325" cy="357797"/>
            </a:xfrm>
            <a:custGeom>
              <a:avLst/>
              <a:gdLst/>
              <a:ahLst/>
              <a:cxnLst/>
              <a:rect r="r" b="b" t="t" l="l"/>
              <a:pathLst>
                <a:path h="357797" w="3613325">
                  <a:moveTo>
                    <a:pt x="0" y="0"/>
                  </a:moveTo>
                  <a:lnTo>
                    <a:pt x="3613325" y="0"/>
                  </a:lnTo>
                  <a:lnTo>
                    <a:pt x="3613325" y="357797"/>
                  </a:lnTo>
                  <a:lnTo>
                    <a:pt x="0" y="357797"/>
                  </a:lnTo>
                  <a:close/>
                </a:path>
              </a:pathLst>
            </a:custGeom>
            <a:solidFill>
              <a:srgbClr val="CF578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13325" cy="395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522545" y="9258300"/>
            <a:ext cx="13719344" cy="1707956"/>
            <a:chOff x="0" y="0"/>
            <a:chExt cx="3613325" cy="4498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3325" cy="449832"/>
            </a:xfrm>
            <a:custGeom>
              <a:avLst/>
              <a:gdLst/>
              <a:ahLst/>
              <a:cxnLst/>
              <a:rect r="r" b="b" t="t" l="l"/>
              <a:pathLst>
                <a:path h="449832" w="3613325">
                  <a:moveTo>
                    <a:pt x="0" y="0"/>
                  </a:moveTo>
                  <a:lnTo>
                    <a:pt x="3613325" y="0"/>
                  </a:lnTo>
                  <a:lnTo>
                    <a:pt x="3613325" y="449832"/>
                  </a:lnTo>
                  <a:lnTo>
                    <a:pt x="0" y="449832"/>
                  </a:lnTo>
                  <a:close/>
                </a:path>
              </a:pathLst>
            </a:custGeom>
            <a:solidFill>
              <a:srgbClr val="CF578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613325" cy="487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17990" y="2091792"/>
            <a:ext cx="8115300" cy="97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0"/>
              </a:lnSpc>
            </a:pPr>
            <a:r>
              <a:rPr lang="en-US" sz="7283">
                <a:solidFill>
                  <a:srgbClr val="A0325B"/>
                </a:solidFill>
                <a:latin typeface="Bernoru"/>
                <a:ea typeface="Bernoru"/>
                <a:cs typeface="Bernoru"/>
                <a:sym typeface="Bernoru"/>
              </a:rPr>
              <a:t>CONCLUSION</a:t>
            </a:r>
          </a:p>
        </p:txBody>
      </p:sp>
      <p:grpSp>
        <p:nvGrpSpPr>
          <p:cNvPr name="Group 10" id="10"/>
          <p:cNvGrpSpPr/>
          <p:nvPr/>
        </p:nvGrpSpPr>
        <p:grpSpPr>
          <a:xfrm rot="1591512">
            <a:off x="10669597" y="3581141"/>
            <a:ext cx="12052542" cy="10545974"/>
            <a:chOff x="0" y="0"/>
            <a:chExt cx="812800" cy="711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DD6E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06144" y="3566943"/>
            <a:ext cx="13190811" cy="283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26703" indent="-363352" lvl="1">
              <a:lnSpc>
                <a:spcPts val="4712"/>
              </a:lnSpc>
              <a:buFont typeface="Arial"/>
              <a:buChar char="•"/>
            </a:pPr>
            <a:r>
              <a:rPr lang="en-US" sz="33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AI can support medical image analysis</a:t>
            </a:r>
          </a:p>
          <a:p>
            <a:pPr algn="just" marL="726703" indent="-363352" lvl="1">
              <a:lnSpc>
                <a:spcPts val="4712"/>
              </a:lnSpc>
              <a:buFont typeface="Arial"/>
              <a:buChar char="•"/>
            </a:pPr>
            <a:r>
              <a:rPr lang="en-US" sz="33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Our model achieved ~90% accuracy</a:t>
            </a:r>
          </a:p>
          <a:p>
            <a:pPr algn="just" marL="726703" indent="-363352" lvl="1">
              <a:lnSpc>
                <a:spcPts val="4712"/>
              </a:lnSpc>
              <a:buFont typeface="Arial"/>
              <a:buChar char="•"/>
            </a:pPr>
            <a:r>
              <a:rPr lang="en-US" sz="33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Demonstrates the power of transfer learning</a:t>
            </a:r>
          </a:p>
          <a:p>
            <a:pPr algn="just" marL="726703" indent="-363352" lvl="1">
              <a:lnSpc>
                <a:spcPts val="4712"/>
              </a:lnSpc>
              <a:buFont typeface="Arial"/>
              <a:buChar char="•"/>
            </a:pPr>
            <a:r>
              <a:rPr lang="en-US" sz="33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Not a replacement for clinical diagnosis</a:t>
            </a:r>
          </a:p>
          <a:p>
            <a:pPr algn="just">
              <a:lnSpc>
                <a:spcPts val="3872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5272" t="0" r="-527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88638" y="3464991"/>
            <a:ext cx="20865275" cy="3357017"/>
            <a:chOff x="0" y="0"/>
            <a:chExt cx="5495381" cy="8841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95381" cy="884153"/>
            </a:xfrm>
            <a:custGeom>
              <a:avLst/>
              <a:gdLst/>
              <a:ahLst/>
              <a:cxnLst/>
              <a:rect r="r" b="b" t="t" l="l"/>
              <a:pathLst>
                <a:path h="884153" w="5495381">
                  <a:moveTo>
                    <a:pt x="0" y="0"/>
                  </a:moveTo>
                  <a:lnTo>
                    <a:pt x="5495381" y="0"/>
                  </a:lnTo>
                  <a:lnTo>
                    <a:pt x="5495381" y="884153"/>
                  </a:lnTo>
                  <a:lnTo>
                    <a:pt x="0" y="884153"/>
                  </a:lnTo>
                  <a:close/>
                </a:path>
              </a:pathLst>
            </a:custGeom>
            <a:solidFill>
              <a:srgbClr val="CF578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495381" cy="922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591512">
            <a:off x="11233029" y="3985313"/>
            <a:ext cx="12052542" cy="10545974"/>
            <a:chOff x="0" y="0"/>
            <a:chExt cx="8128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DD6E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85065">
            <a:off x="-6413237" y="-5806296"/>
            <a:ext cx="12052542" cy="10545974"/>
            <a:chOff x="0" y="0"/>
            <a:chExt cx="812800" cy="711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DD6E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1543050" y="8960941"/>
            <a:ext cx="3086100" cy="2652117"/>
            <a:chOff x="0" y="0"/>
            <a:chExt cx="812800" cy="698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CF578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490538" y="-967065"/>
            <a:ext cx="3086100" cy="2652117"/>
            <a:chOff x="0" y="0"/>
            <a:chExt cx="812800" cy="698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CF578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644824" y="4469732"/>
            <a:ext cx="13659039" cy="1637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36"/>
              </a:lnSpc>
            </a:pPr>
            <a:r>
              <a:rPr lang="en-US" sz="12259">
                <a:solidFill>
                  <a:srgbClr val="A0325B"/>
                </a:solidFill>
                <a:latin typeface="Bernoru"/>
                <a:ea typeface="Bernoru"/>
                <a:cs typeface="Bernoru"/>
                <a:sym typeface="Bernoru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DAHGPRb05JQ</dc:identifier>
  <dcterms:modified xsi:type="dcterms:W3CDTF">2011-08-01T06:04:30Z</dcterms:modified>
  <cp:revision>1</cp:revision>
  <dc:title>computer vision group1</dc:title>
</cp:coreProperties>
</file>